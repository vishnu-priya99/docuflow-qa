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Vascular Access Portfolio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Quarterly Business Review - Q3 2024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Market performance</a:t>
            </a:r>
          </a:p>
          <a:p>
            <a:pPr>
              <a:defRPr sz="1800"/>
            </a:pPr>
            <a:r>
              <a:t>Pipeline update</a:t>
            </a:r>
          </a:p>
          <a:p>
            <a:pPr>
              <a:defRPr sz="1800"/>
            </a:pPr>
            <a:r>
              <a:t>Quality and risk summary</a:t>
            </a:r>
          </a:p>
          <a:p>
            <a:pPr>
              <a:defRPr sz="1800"/>
            </a:pPr>
            <a:r>
              <a:t>Financial summary</a:t>
            </a:r>
          </a:p>
          <a:p>
            <a:pPr>
              <a:defRPr sz="1800"/>
            </a:pPr>
            <a:r>
              <a:t>Competitive landscape</a:t>
            </a:r>
          </a:p>
          <a:p>
            <a:pPr>
              <a:defRPr sz="1800"/>
            </a:pPr>
            <a:r>
              <a:t>Next steps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Market Performance -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Portfolio revenue grew 11% year-over-year to $9.2M in Q3</a:t>
            </a:r>
          </a:p>
          <a:p>
            <a:pPr lvl="1">
              <a:defRPr sz="1500"/>
            </a:pPr>
            <a:r>
              <a:t>Led by strong adoption of the CVC-14G catheter in EMEA</a:t>
            </a:r>
          </a:p>
          <a:p>
            <a:pPr>
              <a:defRPr sz="1800"/>
            </a:pPr>
            <a:r>
              <a:t>North America growth was flat at 1.2%</a:t>
            </a:r>
          </a:p>
          <a:p>
            <a:pPr lvl="1">
              <a:defRPr sz="1500"/>
            </a:pPr>
            <a:r>
              <a:t>Driven by a competitor product launch in Q2</a:t>
            </a:r>
          </a:p>
          <a:p>
            <a:pPr>
              <a:defRPr sz="1800"/>
            </a:pPr>
            <a:r>
              <a:t>APAC remains the smallest but fastest-growing region at 22% YoY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Market Performance - By Product 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Central Venous Catheters: $5.1M, up 14% YoY</a:t>
            </a:r>
          </a:p>
          <a:p>
            <a:pPr>
              <a:defRPr sz="1800"/>
            </a:pPr>
            <a:r>
              <a:t>PICC Lines: $2.3M, up 9% YoY</a:t>
            </a:r>
          </a:p>
          <a:p>
            <a:pPr>
              <a:defRPr sz="1800"/>
            </a:pPr>
            <a:r>
              <a:t>Infusion Sets: $1.2M, flat YoY</a:t>
            </a:r>
          </a:p>
          <a:p>
            <a:pPr>
              <a:defRPr sz="1800"/>
            </a:pPr>
            <a:r>
              <a:t>Guidewires: $0.6M, up 4% YoY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Pipeline and Risks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Next-gen antimicrobial-coated catheter</a:t>
            </a:r>
          </a:p>
          <a:p>
            <a:pPr lvl="1">
              <a:defRPr sz="1500"/>
            </a:pPr>
            <a:r>
              <a:t>Design freeze targeted for Q4</a:t>
            </a:r>
          </a:p>
          <a:p>
            <a:pPr lvl="1">
              <a:defRPr sz="1500"/>
            </a:pPr>
            <a:r>
              <a:t>510(k) submission targeted for Q1 next year</a:t>
            </a:r>
          </a:p>
          <a:p>
            <a:pPr>
              <a:defRPr sz="1800"/>
            </a:pPr>
            <a:r>
              <a:t>Key risk: single-source antimicrobial coating supplier</a:t>
            </a:r>
          </a:p>
          <a:p>
            <a:pPr lvl="1">
              <a:defRPr sz="1500"/>
            </a:pPr>
            <a:r>
              <a:t>Second-source qualification in progress, due by year end</a:t>
            </a:r>
          </a:p>
          <a:p>
            <a:pPr>
              <a:defRPr sz="1800"/>
            </a:pPr>
            <a:r>
              <a:t>Pediatric PICC line extension in early feasibility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Quality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CAPA QA-CAPA-2024-0118 closed effective, six-month verification passed</a:t>
            </a:r>
          </a:p>
          <a:p>
            <a:pPr lvl="1">
              <a:defRPr sz="1500"/>
            </a:pPr>
            <a:r>
              <a:t>Complaint rate for CVC-14G reduced from 0.08% to 0.03% post-CAPA</a:t>
            </a:r>
          </a:p>
          <a:p>
            <a:pPr>
              <a:defRPr sz="1800"/>
            </a:pPr>
            <a:r>
              <a:t>Zero recalls or field corrective actions this quarter</a:t>
            </a:r>
          </a:p>
          <a:p>
            <a:pPr>
              <a:defRPr sz="1800"/>
            </a:pPr>
            <a:r>
              <a:t>Internal audit of Manufacturing Site 3 scheduled for November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Competitive Landscape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Competitor A launched a coated CVC line in North America in Q2</a:t>
            </a:r>
          </a:p>
          <a:p>
            <a:pPr lvl="1">
              <a:defRPr sz="1500"/>
            </a:pPr>
            <a:r>
              <a:t>Pricing pressure observed in the 14G segment, down ~4% ASP</a:t>
            </a:r>
          </a:p>
          <a:p>
            <a:pPr>
              <a:defRPr sz="1800"/>
            </a:pPr>
            <a:r>
              <a:t>Our differentiator remains first-pass insertion success rate (94% vs. reported 89%)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Next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Complete second-source coating supplier qualification by Q4</a:t>
            </a:r>
          </a:p>
          <a:p>
            <a:pPr>
              <a:defRPr sz="1800"/>
            </a:pPr>
            <a:r>
              <a:t>Submit 510(k) for antimicrobial catheter in Q1</a:t>
            </a:r>
          </a:p>
          <a:p>
            <a:pPr>
              <a:defRPr sz="1800"/>
            </a:pPr>
            <a:r>
              <a:t>Launch EMEA pricing review in response to competitive pressure</a:t>
            </a:r>
          </a:p>
          <a:p>
            <a:pPr>
              <a:defRPr sz="1800"/>
            </a:pPr>
            <a:r>
              <a:t>Begin pediatric PICC feasibility study in Q1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Regional Revenue Summary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62000" y="1778000"/>
          <a:ext cx="7620000" cy="254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40000"/>
                <a:gridCol w="2540000"/>
                <a:gridCol w="2540000"/>
              </a:tblGrid>
              <a:tr h="635000">
                <a:tc>
                  <a:txBody>
                    <a:bodyPr/>
                    <a:lstStyle/>
                    <a:p>
                      <a:r>
                        <a:t>Region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Q2 Revenue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Q3 Revenue</a:t>
                      </a:r>
                    </a:p>
                  </a:txBody>
                  <a:tcPr/>
                </a:tc>
              </a:tr>
              <a:tr h="635000">
                <a:tc>
                  <a:txBody>
                    <a:bodyPr/>
                    <a:lstStyle/>
                    <a:p>
                      <a:r>
                        <a:t>North America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$3,150,000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$3,190,000</a:t>
                      </a:r>
                    </a:p>
                  </a:txBody>
                  <a:tcPr/>
                </a:tc>
              </a:tr>
              <a:tr h="635000">
                <a:tc>
                  <a:txBody>
                    <a:bodyPr/>
                    <a:lstStyle/>
                    <a:p>
                      <a:r>
                        <a:t>EMEA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$4,020,000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$4,480,000</a:t>
                      </a:r>
                    </a:p>
                  </a:txBody>
                  <a:tcPr/>
                </a:tc>
              </a:tr>
              <a:tr h="635000">
                <a:tc>
                  <a:txBody>
                    <a:bodyPr/>
                    <a:lstStyle/>
                    <a:p>
                      <a:r>
                        <a:t>APAC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$1,150,000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$1,530,000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Quality Metrics Trend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62000" y="1778000"/>
          <a:ext cx="7620000" cy="254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40000"/>
                <a:gridCol w="2540000"/>
                <a:gridCol w="2540000"/>
              </a:tblGrid>
              <a:tr h="508000">
                <a:tc>
                  <a:txBody>
                    <a:bodyPr/>
                    <a:lstStyle/>
                    <a:p>
                      <a:r>
                        <a:t>Quarter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Complaint Rate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CAPAs Opened</a:t>
                      </a:r>
                    </a:p>
                  </a:txBody>
                  <a:tcPr/>
                </a:tc>
              </a:tr>
              <a:tr h="508000">
                <a:tc>
                  <a:txBody>
                    <a:bodyPr/>
                    <a:lstStyle/>
                    <a:p>
                      <a:r>
                        <a:t>Q4 2023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0.06%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</a:t>
                      </a:r>
                    </a:p>
                  </a:txBody>
                  <a:tcPr/>
                </a:tc>
              </a:tr>
              <a:tr h="508000">
                <a:tc>
                  <a:txBody>
                    <a:bodyPr/>
                    <a:lstStyle/>
                    <a:p>
                      <a:r>
                        <a:t>Q1 2024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0.08%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</a:t>
                      </a:r>
                    </a:p>
                  </a:txBody>
                  <a:tcPr/>
                </a:tc>
              </a:tr>
              <a:tr h="508000">
                <a:tc>
                  <a:txBody>
                    <a:bodyPr/>
                    <a:lstStyle/>
                    <a:p>
                      <a:r>
                        <a:t>Q2 2024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0.05%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</a:t>
                      </a:r>
                    </a:p>
                  </a:txBody>
                  <a:tcPr/>
                </a:tc>
              </a:tr>
              <a:tr h="508000">
                <a:tc>
                  <a:txBody>
                    <a:bodyPr/>
                    <a:lstStyle/>
                    <a:p>
                      <a:r>
                        <a:t>Q3 2024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0.03%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